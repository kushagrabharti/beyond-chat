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66771503dd42e5" /><Relationship Type="http://schemas.openxmlformats.org/officeDocument/2006/relationships/extended-properties" Target="/docProps/app.xml" Id="R1ee7932d657e473b" /><Relationship Type="http://schemas.openxmlformats.org/officeDocument/2006/relationships/officeDocument" Target="/ppt/presentation.xml" Id="R7dce0c27c58d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e4f33254934124"/>
  </p:sldMasterIdLst>
  <p:notesMasterIdLst>
    <p:notesMasterId xmlns:r="http://schemas.openxmlformats.org/officeDocument/2006/relationships" r:id="Rd24cd124429c49ca"/>
  </p:notesMasterIdLst>
  <p:sldIdLst>
    <p:sldId xmlns:r="http://schemas.openxmlformats.org/officeDocument/2006/relationships" id="256" r:id="Rc3a14d13dcad43b7"/>
    <p:sldId xmlns:r="http://schemas.openxmlformats.org/officeDocument/2006/relationships" id="257" r:id="R689c47c932064b76"/>
    <p:sldId xmlns:r="http://schemas.openxmlformats.org/officeDocument/2006/relationships" id="258" r:id="R5582d83e478346d3"/>
    <p:sldId xmlns:r="http://schemas.openxmlformats.org/officeDocument/2006/relationships" id="259" r:id="Rf1b067cd335e4c7f"/>
    <p:sldId xmlns:r="http://schemas.openxmlformats.org/officeDocument/2006/relationships" id="260" r:id="R5e7cd4493d6946ec"/>
    <p:sldId xmlns:r="http://schemas.openxmlformats.org/officeDocument/2006/relationships" id="261" r:id="Rce78bb508362425f"/>
    <p:sldId xmlns:r="http://schemas.openxmlformats.org/officeDocument/2006/relationships" id="262" r:id="Rf68f7f3131cf4fd9"/>
    <p:sldId xmlns:r="http://schemas.openxmlformats.org/officeDocument/2006/relationships" id="263" r:id="Rd1de2cdeb9844ee3"/>
    <p:sldId xmlns:r="http://schemas.openxmlformats.org/officeDocument/2006/relationships" id="264" r:id="Re5ccabd67533420c"/>
    <p:sldId xmlns:r="http://schemas.openxmlformats.org/officeDocument/2006/relationships" id="265" r:id="R9862f5c71687447e"/>
    <p:sldId xmlns:r="http://schemas.openxmlformats.org/officeDocument/2006/relationships" id="266" r:id="R69e368b1e58645e5"/>
    <p:sldId xmlns:r="http://schemas.openxmlformats.org/officeDocument/2006/relationships" id="267" r:id="R460807e425354d66"/>
    <p:sldId xmlns:r="http://schemas.openxmlformats.org/officeDocument/2006/relationships" id="268" r:id="Rc8c92979b75b4eaf"/>
    <p:sldId xmlns:r="http://schemas.openxmlformats.org/officeDocument/2006/relationships" id="269" r:id="R16f3896ecfdd4d61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e4f33254934124" /><Relationship Type="http://schemas.openxmlformats.org/officeDocument/2006/relationships/theme" Target="/ppt/theme/theme1.xml" Id="R275a3adced9e4696" /><Relationship Type="http://schemas.openxmlformats.org/officeDocument/2006/relationships/notesMaster" Target="/ppt/notesMasters/notesMaster1.xml" Id="Rd24cd124429c49ca" /><Relationship Type="http://schemas.openxmlformats.org/officeDocument/2006/relationships/presProps" Target="/ppt/presProps.xml" Id="R04dbbfa6241c4788" /><Relationship Type="http://schemas.openxmlformats.org/officeDocument/2006/relationships/viewProps" Target="/ppt/viewProps.xml" Id="R32e785e506e34e2c" /><Relationship Type="http://schemas.openxmlformats.org/officeDocument/2006/relationships/tableStyles" Target="/ppt/tableStyles.xml" Id="R76430840676442d8" /><Relationship Type="http://schemas.openxmlformats.org/officeDocument/2006/relationships/slide" Target="/ppt/slides/slide1.xml" Id="Rc3a14d13dcad43b7" /><Relationship Type="http://schemas.openxmlformats.org/officeDocument/2006/relationships/slide" Target="/ppt/slides/slide2.xml" Id="R689c47c932064b76" /><Relationship Type="http://schemas.openxmlformats.org/officeDocument/2006/relationships/slide" Target="/ppt/slides/slide3.xml" Id="R5582d83e478346d3" /><Relationship Type="http://schemas.openxmlformats.org/officeDocument/2006/relationships/slide" Target="/ppt/slides/slide4.xml" Id="Rf1b067cd335e4c7f" /><Relationship Type="http://schemas.openxmlformats.org/officeDocument/2006/relationships/slide" Target="/ppt/slides/slide5.xml" Id="R5e7cd4493d6946ec" /><Relationship Type="http://schemas.openxmlformats.org/officeDocument/2006/relationships/slide" Target="/ppt/slides/slide6.xml" Id="Rce78bb508362425f" /><Relationship Type="http://schemas.openxmlformats.org/officeDocument/2006/relationships/slide" Target="/ppt/slides/slide7.xml" Id="Rf68f7f3131cf4fd9" /><Relationship Type="http://schemas.openxmlformats.org/officeDocument/2006/relationships/slide" Target="/ppt/slides/slide8.xml" Id="Rd1de2cdeb9844ee3" /><Relationship Type="http://schemas.openxmlformats.org/officeDocument/2006/relationships/slide" Target="/ppt/slides/slide9.xml" Id="Re5ccabd67533420c" /><Relationship Type="http://schemas.openxmlformats.org/officeDocument/2006/relationships/slide" Target="/ppt/slides/slide10.xml" Id="R9862f5c71687447e" /><Relationship Type="http://schemas.openxmlformats.org/officeDocument/2006/relationships/slide" Target="/ppt/slides/slide11.xml" Id="R69e368b1e58645e5" /><Relationship Type="http://schemas.openxmlformats.org/officeDocument/2006/relationships/slide" Target="/ppt/slides/slide12.xml" Id="R460807e425354d66" /><Relationship Type="http://schemas.openxmlformats.org/officeDocument/2006/relationships/slide" Target="/ppt/slides/slide13.xml" Id="Rc8c92979b75b4eaf" /><Relationship Type="http://schemas.openxmlformats.org/officeDocument/2006/relationships/slide" Target="/ppt/slides/slide14.xml" Id="R16f3896ecfdd4d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d3090fe7a2d47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febbd3df4a42df" /><Relationship Type="http://schemas.openxmlformats.org/officeDocument/2006/relationships/notesMaster" Target="/ppt/notesMasters/notesMaster1.xml" Id="Rf08ab6d02d5d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fd94df85264e64" /><Relationship Type="http://schemas.openxmlformats.org/officeDocument/2006/relationships/notesMaster" Target="/ppt/notesMasters/notesMaster1.xml" Id="R07119a8f059245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ad8966ed814986" /><Relationship Type="http://schemas.openxmlformats.org/officeDocument/2006/relationships/notesMaster" Target="/ppt/notesMasters/notesMaster1.xml" Id="R8d025ffa71c94a6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6791c6bebaf41f0" /><Relationship Type="http://schemas.openxmlformats.org/officeDocument/2006/relationships/notesMaster" Target="/ppt/notesMasters/notesMaster1.xml" Id="R23703097b43147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c51ce1c4524ef7" /><Relationship Type="http://schemas.openxmlformats.org/officeDocument/2006/relationships/notesMaster" Target="/ppt/notesMasters/notesMaster1.xml" Id="Rbd8d7a9aaa8542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ba9dc9b0324c73" /><Relationship Type="http://schemas.openxmlformats.org/officeDocument/2006/relationships/notesMaster" Target="/ppt/notesMasters/notesMaster1.xml" Id="R4177c9cd5b3045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c4e070e7a342f0" /><Relationship Type="http://schemas.openxmlformats.org/officeDocument/2006/relationships/notesMaster" Target="/ppt/notesMasters/notesMaster1.xml" Id="Rab867a694ce24e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60dece3ceed40a2" /><Relationship Type="http://schemas.openxmlformats.org/officeDocument/2006/relationships/notesMaster" Target="/ppt/notesMasters/notesMaster1.xml" Id="R23d24bd86f0141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a2c5ee8a984925" /><Relationship Type="http://schemas.openxmlformats.org/officeDocument/2006/relationships/notesMaster" Target="/ppt/notesMasters/notesMaster1.xml" Id="Rb9ee707bf5b1425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6c5672f8b24677" /><Relationship Type="http://schemas.openxmlformats.org/officeDocument/2006/relationships/notesMaster" Target="/ppt/notesMasters/notesMaster1.xml" Id="R2eedac982b2f420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3ffcab3eafc4838" /><Relationship Type="http://schemas.openxmlformats.org/officeDocument/2006/relationships/notesMaster" Target="/ppt/notesMasters/notesMaster1.xml" Id="R1315cc66bb1a46c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dbd75226ce4410" /><Relationship Type="http://schemas.openxmlformats.org/officeDocument/2006/relationships/notesMaster" Target="/ppt/notesMasters/notesMaster1.xml" Id="R72de081b08b540e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47957b9f344ff3" /><Relationship Type="http://schemas.openxmlformats.org/officeDocument/2006/relationships/notesMaster" Target="/ppt/notesMasters/notesMaster1.xml" Id="R113188bff99d4ca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489512209ae4764" /><Relationship Type="http://schemas.openxmlformats.org/officeDocument/2006/relationships/notesMaster" Target="/ppt/notesMasters/notesMaster1.xml" Id="Rfa05f777d14442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02b1b583e4f9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ac10b741634c5b" /><Relationship Type="http://schemas.openxmlformats.org/officeDocument/2006/relationships/slideLayout" Target="/ppt/slideLayouts/slideLayout2.xml" Id="R6451ed725a3345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51ed725a3345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bc650fe44746fc" /><Relationship Type="http://schemas.openxmlformats.org/officeDocument/2006/relationships/notesSlide" Target="/ppt/notesSlides/notesSlide1.xml" Id="R9ca07146942944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df886f27746d7" /><Relationship Type="http://schemas.openxmlformats.org/officeDocument/2006/relationships/notesSlide" Target="/ppt/notesSlides/notesSlide2.xml" Id="R434645bdbc5542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92501388eb4513" /><Relationship Type="http://schemas.openxmlformats.org/officeDocument/2006/relationships/notesSlide" Target="/ppt/notesSlides/notesSlide3.xml" Id="Rb95c2f31131749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fb86f01414428d" /><Relationship Type="http://schemas.openxmlformats.org/officeDocument/2006/relationships/notesSlide" Target="/ppt/notesSlides/notesSlide4.xml" Id="R98416182c24040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c60f925ec845d8" /><Relationship Type="http://schemas.openxmlformats.org/officeDocument/2006/relationships/notesSlide" Target="/ppt/notesSlides/notesSlide5.xml" Id="Rfcd8470ee6434a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914a6cacc44662" /><Relationship Type="http://schemas.openxmlformats.org/officeDocument/2006/relationships/notesSlide" Target="/ppt/notesSlides/notesSlide6.xml" Id="R49cb9b44bd3b47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566dfa45c744ba" /><Relationship Type="http://schemas.openxmlformats.org/officeDocument/2006/relationships/notesSlide" Target="/ppt/notesSlides/notesSlide7.xml" Id="Rd0a09b55561b45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0ccb7e605ee4f43" /><Relationship Type="http://schemas.openxmlformats.org/officeDocument/2006/relationships/notesSlide" Target="/ppt/notesSlides/notesSlide8.xml" Id="Re713da5a40554f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fb579948b2440b" /><Relationship Type="http://schemas.openxmlformats.org/officeDocument/2006/relationships/notesSlide" Target="/ppt/notesSlides/notesSlide9.xml" Id="R5ffb3d7af6714a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8ec809a2ec473a" /><Relationship Type="http://schemas.openxmlformats.org/officeDocument/2006/relationships/notesSlide" Target="/ppt/notesSlides/notesSlide10.xml" Id="R6924e4acaa7849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4b7720f2384b02" /><Relationship Type="http://schemas.openxmlformats.org/officeDocument/2006/relationships/image" Target="/ppt/media/image.png" Id="R9044fded4b674216" /><Relationship Type="http://schemas.openxmlformats.org/officeDocument/2006/relationships/image" Target="/ppt/media/image2.png" Id="R607c3ed30a0d45d6" /><Relationship Type="http://schemas.openxmlformats.org/officeDocument/2006/relationships/image" Target="/ppt/media/image.jpeg" Id="R47c8b1d753eb46e4" /><Relationship Type="http://schemas.openxmlformats.org/officeDocument/2006/relationships/notesSlide" Target="/ppt/notesSlides/notesSlide11.xml" Id="Radf758fee2e147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79db33411a4340" /><Relationship Type="http://schemas.openxmlformats.org/officeDocument/2006/relationships/notesSlide" Target="/ppt/notesSlides/notesSlide12.xml" Id="R8524bf3af85749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3b61cec7547dd" /><Relationship Type="http://schemas.openxmlformats.org/officeDocument/2006/relationships/notesSlide" Target="/ppt/notesSlides/notesSlide13.xml" Id="Rc9b8ed59ea2048d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a808063554680" /><Relationship Type="http://schemas.openxmlformats.org/officeDocument/2006/relationships/notesSlide" Target="/ppt/notesSlides/notesSlide14.xml" Id="Re5045e5efa6640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541442-8379-435F-9C7E-D9DDB12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60000">
            <a:off x="-2095500" y="6096000"/>
            <a:ext cx="22669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38B350-7876-47EE-A081-5D30C9DF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811000" y="-762000"/>
            <a:ext cx="7239000" cy="1123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893EC5-9E31-4091-BB32-FED33260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781050"/>
            <a:ext cx="8191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900" b="1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CINDER</a:t>
            </a:r>
          </a:p>
          <a:p xmlns:a="http://schemas.openxmlformats.org/drawingml/2006/main">
            <a:pPr algn="l">
              <a:defRPr sz="6900" b="1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ORANGE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60E7A-1FA0-4A9D-9056-C0C14EAF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476625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Cold Brew launch room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6E629-DC96-4219-AC6F-58970E1C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752475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One investor demo where every studio matters.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5F886-90D2-4FD7-9280-300A930A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8286750"/>
            <a:ext cx="933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A Starbucks-style seasonal beverage decision moves from scattered docs and data into a complete launch package.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D78B6-3065-45C9-9836-99DDFCEF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39875" y="6858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BEYOND CHAT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232CE-7ED9-461E-BAB3-2FD7EFA5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06550" y="8115300"/>
            <a:ext cx="2667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Demo deck</a:t>
            </a:r>
          </a:p>
          <a:p xmlns:a="http://schemas.openxmlformats.org/drawingml/2006/main">
            <a:pPr algn="r">
              <a:defRPr sz="15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April 2026</a:t>
            </a:r>
          </a:p>
        </p:txBody>
      </p:sp>
    </p:spTree>
    <p:extLst>
      <p:ext uri="{BB962C8B-B14F-4D97-AF65-F5344CB8AC3E}">
        <p14:creationId xmlns:p14="http://schemas.microsoft.com/office/powerpoint/2010/main" val="3485703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F74E73-74F4-405E-8F22-215657AD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Product launches fail in the handoffs.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C07E9-CA9C-41B5-B258-E13CA0E5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The investor story is not assistant productivity. It is replacing fragmented launch work with one operating surface.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52D386-4CC7-4596-BA12-DEA44D06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89E52C-E270-4CEB-B1FB-FEEEFC58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4E568-2E68-4CEF-A08E-644D0507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57500"/>
            <a:ext cx="7239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Imagine you own a seasonal launch at Starbucks.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3CF36-715D-4A4E-9B2D-EA211FF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095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EF007-A870-4705-885A-16DD8E0F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4000500"/>
            <a:ext cx="729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Consumer notes live in Notion.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F979B5-CC49-4F16-9070-B24F5E75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4838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2FD22-CB30-474F-BDA8-4D08D423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4743450"/>
            <a:ext cx="729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Pilot data sits in CSVs and dashboards.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A375CB-DA94-4045-96E4-FAD31043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581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D72CF1-4629-4504-9927-A9BA6D0A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5486400"/>
            <a:ext cx="729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Finance has public-company and margin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84E42-660C-4482-808E-6FF360F5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63246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BFC5C-CFBE-4121-8385-B3F5E108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6229350"/>
            <a:ext cx="729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Creative assets, briefs, and launch copy move separately.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F5176-DA29-473C-9D62-95D02F07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7067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D3D69D-AA64-4F4F-A899-115E82C4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6972300"/>
            <a:ext cx="7296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Leadership needs one decision, not five tool tabs.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587B4-40AA-408E-AAB0-BFDCEFDC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2647950"/>
            <a:ext cx="51435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4039D-BCD3-4674-B575-119CF4CA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1432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The demo promise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BA875-D60C-44F7-8D33-8ECFA91C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857625"/>
            <a:ext cx="4000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Open one workspace and watch the whole launch decision assemble across chat, research, data, finance, writing, image, compare, and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ACD6E-033B-4B33-9B2C-7C293504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6591300"/>
            <a:ext cx="4000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Simple enough to understand live.</a:t>
            </a:r>
          </a:p>
          <a:p xmlns:a="http://schemas.openxmlformats.org/drawingml/2006/main">
            <a:pPr algn="l">
              <a:defRPr sz="16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Deep enough to prove platform breadth.</a:t>
            </a:r>
          </a:p>
        </p:txBody>
      </p:sp>
    </p:spTree>
    <p:extLst>
      <p:ext uri="{BB962C8B-B14F-4D97-AF65-F5344CB8AC3E}">
        <p14:creationId xmlns:p14="http://schemas.microsoft.com/office/powerpoint/2010/main" val="10795123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496B5C-A693-4DC8-A0D6-4829324E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flow: one launch room, every studio.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67548-CC02-432D-9D83-153C31A5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Each step produces artifacts that become context for the next step.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C71BD-942A-4F48-B1A2-AC328990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0EC42-1833-4A92-88B9-BD6C25BC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FC4A8-130B-4A04-8A2E-9AE0EE0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1432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25188-D20F-4633-BD60-9AD424E4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33718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D206-9ACA-4E12-9840-83DA34D9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4290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B73AB-0D2C-4A74-BF6D-7A88AF56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B737C-0548-43EA-9D02-BA43373F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35242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01E64E-A647-4222-BEF4-56C4E1E1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31432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78C27-89ED-4A2C-BC48-4C34B4A3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33718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87C74-2329-455A-B8AD-2381C489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4290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Chat +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FD2771-CD4F-4952-A45F-757EF0B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8803B-1E87-4962-96B8-5B6B51C4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35242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B9DBC5-0FB7-4B07-9749-7B5B14C02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31432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059E82-8E6E-472B-B47F-86F06828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33718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0349B-B7C7-466F-80B8-C0D84E4F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34290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Research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981E33-9DD5-4757-88F7-C021C3E72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CCC436-A346-45FA-93C8-99699799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4400" y="35242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2C3F51-CD24-4354-B78D-041CF8F6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31432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47E30C-0DCB-491D-8081-4644BA22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33718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E2F42F-A39C-4950-A4F4-8BC460649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34290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Data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F0757-CC4B-4428-B0E2-9157569A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3886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0AA890-EF1C-45CA-8DC8-F2D455FC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61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39E317-9EAD-4D66-85E2-30DC173B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58483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FDB5A-CD36-4501-AFDE-B362B5C5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9055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Finance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DC022-4BFB-4D6B-B3FE-D00A5024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6362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4D9A71-5493-4F2B-9B09-5759927E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60007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EC1CDA-BC90-4323-8F8B-A1A14345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561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55B673-63A9-4DF8-AD0D-5F15F6E8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3050" y="58483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180CF5-D495-427B-A70E-C82497D3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59055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Writing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AA0CE2-77DD-4EE9-B95B-374E994F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6362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9EDF3F-730C-400D-A024-8D0D9D33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48650" y="60007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9051B8-1E1C-4566-AF91-BB86EEEC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561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8ABC8A-C3D7-4F51-AF67-7F8F2C36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58483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876BE0-E0B7-4736-A5BE-0DF6E340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59055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Image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6C1968-4C31-4B77-8EA3-EF07DE6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6362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feeds the next studio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ABD93F-981E-497B-8BD6-5D7BB2D7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44400" y="6000750"/>
            <a:ext cx="5143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50F84E-CB69-4037-BCBF-ED5AA14D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35000" y="5619750"/>
            <a:ext cx="29527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1F1498-4B3E-4068-8BC7-90D69BFEE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44550" y="5848350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9937C9-19AF-47AE-97AD-54FE5A4C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5905500"/>
            <a:ext cx="190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Compare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23BBCB-9621-4EC8-A22C-375C1520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7950" y="63627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stress-tests the decision</a:t>
            </a:r>
          </a:p>
        </p:txBody>
      </p:sp>
    </p:spTree>
    <p:extLst>
      <p:ext uri="{BB962C8B-B14F-4D97-AF65-F5344CB8AC3E}">
        <p14:creationId xmlns:p14="http://schemas.microsoft.com/office/powerpoint/2010/main" val="3951847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81948B-7C77-4DE8-BCCE-A81F8C9D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The fake company package is intentionally full-stack.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D336D-EB7A-4B67-9FD3-40F7186B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Mock Notion knowledge, pre-existing artifacts, CSV data, finance prompts, writing outputs, image assets, and compare prompts.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F2725-839D-4AA4-B9DD-8267D84D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2C9D53-D25C-40D6-BC1B-947CE279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0AD4EA-C033-4DE3-B173-ECF3A545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9051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Notion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3685E-5382-4E85-B83E-E65DCE1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9051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6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B4EA7-293C-4EF6-A8E2-7D7FA757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29241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Brand voice, retail ops, Siren notes, launch retros, interview highlights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1B065-865F-4F79-A6A5-9E29CC42D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3609975"/>
            <a:ext cx="1466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DAF"/>
          </a:solidFill>
          <a:ln xmlns:a="http://schemas.openxmlformats.org/drawingml/2006/main" w="0">
            <a:solidFill>
              <a:srgbClr val="DCC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C47AA-C7C5-416A-9FD5-5EBF172B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40100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172EA-2DB5-44CD-BBC0-88A6252E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40100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9 files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73B50C-8F64-400E-9F87-15DFF739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40290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Memos, pilot brief drafts, index CSV, pipeline snapshot, creative digest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5B2ACB-B033-481E-AE02-BB37D56D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4714875"/>
            <a:ext cx="1466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DAF"/>
          </a:solidFill>
          <a:ln xmlns:a="http://schemas.openxmlformats.org/drawingml/2006/main" w="0">
            <a:solidFill>
              <a:srgbClr val="DCC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4F3EF-16E6-478D-8317-1A82E130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51149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Data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FCFE53-8328-459E-94F2-56F2D084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51149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1,800 rows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41DCB-A94C-441E-B72D-FD05F97C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51339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Seasonal beverage pilots with margin, weather, channel, segment, NPS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C5DB6-811A-4108-8FAD-7F5476A3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5819775"/>
            <a:ext cx="1466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DAF"/>
          </a:solidFill>
          <a:ln xmlns:a="http://schemas.openxmlformats.org/drawingml/2006/main" w="0">
            <a:solidFill>
              <a:srgbClr val="DCCD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D7FCCB-99AB-4CA6-B466-E813CA5E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62198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Finance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473DE-7D6D-4F91-8C7D-6ABE4D55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62198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3 files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9F641E-3098-4CEC-8C5A-551D6EDB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62388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SBUX public-company context, competitor basket, launch assumptions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C8B63B-4DB1-4DF7-B984-4592BE7D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6924675"/>
            <a:ext cx="1466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DAF"/>
          </a:solidFill>
          <a:ln xmlns:a="http://schemas.openxmlformats.org/drawingml/2006/main" w="0">
            <a:solidFill>
              <a:srgbClr val="DCCDA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AFC65C-2D1D-4321-A61F-B0FA3B14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7324725"/>
            <a:ext cx="2286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Writing/Image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DBB75-1DFA-41BE-9E46-47076EE3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7324725"/>
            <a:ext cx="200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10 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FF34F-116C-4FD1-8DBB-E374CF6C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734377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Executive brief, FAQ, landing page, launch email, product visuals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29F16-3182-45D0-9D91-0457E5EE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8029575"/>
            <a:ext cx="1466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DAF"/>
          </a:solidFill>
          <a:ln xmlns:a="http://schemas.openxmlformats.org/drawingml/2006/main" w="0">
            <a:solidFill>
              <a:srgbClr val="DCCDA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EA971-D500-4946-9A2D-757F86A0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8810625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Demo path root: demo-data/starbucks-cinder-orange</a:t>
            </a:r>
          </a:p>
        </p:txBody>
      </p:sp>
    </p:spTree>
    <p:extLst>
      <p:ext uri="{BB962C8B-B14F-4D97-AF65-F5344CB8AC3E}">
        <p14:creationId xmlns:p14="http://schemas.microsoft.com/office/powerpoint/2010/main" val="216545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FB2019-736C-48F3-AF93-33FFC60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Open on the operating dashboard.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7AAE72-8DD6-41CC-B2AC-19F19EF3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The buyer immediately sees this is not another chat tab.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C0079-AD6A-42F3-8C74-C7BEDCE4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B6795B-550F-4EB9-916E-D1ADE653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5E119-F565-4D6F-92E2-B44E74DB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" y="2762250"/>
            <a:ext cx="4381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09E7C-7A34-4C78-BEB7-CED3E878C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2550" y="31432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Calendar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29348E-1D7A-49EA-9584-1F52378E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810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9:00 Bev standup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661A9-864D-45B2-855D-6B854DC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4005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11:30 Pilot ops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A2F3C1-2935-4F49-877E-85254AC1F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9911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2:00 CFO margin check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E477E-D116-4552-A332-44EB88B8E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5816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4:30 Creative signoff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5E6494-7B8F-40B3-A7B5-33DCC927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2762250"/>
            <a:ext cx="5000625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9E661-36F4-4F24-87EA-2DE46CBC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3143250"/>
            <a:ext cx="361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Company Knowledge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20EED-FE6B-4F16-82B8-AAFEC599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8290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Notion launch room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3990-2DDE-4B15-9B3C-D020AF5E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4196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Built-in artifacts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1C628-C4CC-4509-9C96-759E1AA75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01015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Retail ops docs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D52D4-B011-4C9A-8FDB-77F2DC11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5600700"/>
            <a:ext cx="2857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Finance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15FA3A-75EE-49B2-89BF-1BC37695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276225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03751-99D0-4CB0-92E9-822A8D69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58700" y="3143250"/>
            <a:ext cx="342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Next Best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B3CA24-31F9-41D2-AE62-78A21036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77750" y="39433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Build the launch decision packet for Cinder Orange Cold Brew.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8C35B-F32F-4C1D-BAD9-DB944E08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7905750"/>
            <a:ext cx="1190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The dashboard cues the whole demo: availability, links, knowledge sources, and artifacts in one place.</a:t>
            </a:r>
          </a:p>
        </p:txBody>
      </p:sp>
    </p:spTree>
    <p:extLst>
      <p:ext uri="{BB962C8B-B14F-4D97-AF65-F5344CB8AC3E}">
        <p14:creationId xmlns:p14="http://schemas.microsoft.com/office/powerpoint/2010/main" val="13829495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9FAE71-91DF-4779-8571-9AC9067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Chat becomes a context builder, not a dead-end thread.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F6F360-C552-4E7F-BA3F-5B402413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Import Notion and artifacts together, then convert the conversation into studio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9906E1-0005-4A4C-9554-923658ABB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AE58BE-EECA-4620-B52E-DC17CAC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76D39-2330-4188-8C50-94AC7BF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905125"/>
            <a:ext cx="7239000" cy="4619625"/>
          </a:xfrm>
          <a:prstGeom xmlns:a="http://schemas.openxmlformats.org/drawingml/2006/main" prst="roundRect">
            <a:avLst>
              <a:gd name="adj" fmla="val 1649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7726C-7470-4F5C-B863-0C811E68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3337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90FCC-3E6F-4322-8B7D-672842FB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000500"/>
            <a:ext cx="581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“Using our launch docs and artifacts, decide whether Cinder Orange Cold Brew is credible and what we need to ship.”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3851-A3CC-4DAC-92CA-5EADFF530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6048375"/>
            <a:ext cx="1809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Import Notion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FE36A-D35C-4A6B-9F2D-A23D5A72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6048375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Import Artifacts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AB4359-DC0D-4BC6-9DE6-D1EB877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6450" y="6048375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Use calendar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0993A8-C53C-4935-BE83-55354F055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683895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Action button: Produce launch workplan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96219-967C-4FDB-A06F-A46ADF9B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37147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5FEA8-B6BC-4446-9FDD-004E64F9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619500"/>
            <a:ext cx="653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No one has to paste context manually.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3DC58-7771-4229-A19C-94605DF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4457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FB8C8-241C-4441-AACC-47B48FBD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4362450"/>
            <a:ext cx="653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The chat emits an explicit handoff into Research Studio.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8600D-B0D4-4126-AD54-AD400ACB0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0" y="52006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8ECC27-B2E9-4592-9D24-EE0233CE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5105400"/>
            <a:ext cx="653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Artifacts stay visible and reusable across the rest of the run.</a:t>
            </a:r>
          </a:p>
        </p:txBody>
      </p:sp>
    </p:spTree>
    <p:extLst>
      <p:ext uri="{BB962C8B-B14F-4D97-AF65-F5344CB8AC3E}">
        <p14:creationId xmlns:p14="http://schemas.microsoft.com/office/powerpoint/2010/main" val="6866316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3670B7-9B39-400B-BB06-E2412F9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Research Studio creates the market logic.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7D043-6CD6-4E50-858D-9D6BF237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It reads the launch room and turns scattered research into a proposal.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2054C-700A-436A-8731-C59B1C01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CB1249-5CF8-4B63-BE5C-671250690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1D181-F1B2-4851-922E-5410C26A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00037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Research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F1734C-D0F8-4E08-8D72-A2B7A182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3524250"/>
            <a:ext cx="619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Why should Starbucks launch this now, against what consumer and competitive context?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A0B05-0F53-4FBD-9850-EA383BCE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857500"/>
            <a:ext cx="628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31917-409E-4555-AF6B-0D60A9EB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3086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Category research memo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53FFF-C10C-449A-8F12-0EE250A1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3486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Flavor-led cold coffee occasions, warmer weather demand, app-led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94102-8656-4BAC-8541-EE84E57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4381500"/>
            <a:ext cx="628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DD3091-8613-4EEB-AAC2-40E6B268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4610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Competitive readout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397A7-3C3A-47A9-9D27-012DC8DE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5010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BROS for youth flavor velocity; MCD for value coffee; KO/PEP/MNST for beverage margin benchmarks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3EC55-B3B5-4DFA-A2B7-FB62708B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5905500"/>
            <a:ext cx="6286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FF08B8-31F3-4AE9-A6E3-9BFB9708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613410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Launch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60072-E6B3-41E4-987B-A0C0C6BC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1125" y="6534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Pilot gate, markets, evidence gaps, risks, and research-backed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615423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3E5E34-6753-48E2-BC41-9A911BAA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Data Studio turns the pilot CSV into an actual operating read.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E0E79-5A8B-4C37-9592-5465C393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The fake dataset is large enough to show patterns, not toy output.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D429EC-E4B2-4168-A253-82EED208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C2CDBA-3C31-46A7-8F33-B0E4ABF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65740-153B-48F3-B472-110C6DAA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287655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1,800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2453A-F191-45E8-9642-CC64C4A4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75285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pilot rows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FD89B9-0D2C-413A-A33A-140F51D9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28765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84.9M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71FF2-E57A-4BA7-B88F-E82CB2147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90950" y="3752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modeled revenue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67052-CE1B-4204-BF75-D1A38865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876550"/>
            <a:ext cx="238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4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69.6%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B952F2-298C-473F-AAFF-5F445988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37528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avg gross margin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B08E5B-C33A-466E-A0E9-E0279E98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52863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Florida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F1C20D-A352-4AA8-AB70-DD4AEE22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343525"/>
            <a:ext cx="781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425E1-D45B-4627-B7D6-C1940FD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52863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$10.4M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45D75-3819-447A-ACB7-5B2F64C0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000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New York Metro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828187-4CF8-4B1B-A413-69049272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6057900"/>
            <a:ext cx="7061313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60283-98CD-4BC3-9708-73B80FEA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6000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$9.4M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E3743-4A9F-42CF-A510-B2C63F74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7151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Southeast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A247B6-B6A1-4EB1-A5D0-E40EE8EC9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6772275"/>
            <a:ext cx="6886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6ED265-5651-45FC-B7D4-D88186A9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67151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$9.2M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0D1729-BE53-4474-ACF9-403D2067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7429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West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49B817-8214-4D95-B0B6-96B51223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7486650"/>
            <a:ext cx="6797962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6C126-A1AA-4B97-B99C-1D6DA6BB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74295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$9.1M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D8ABF-113B-44AC-B3C5-D89E04E9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81438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South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2F574C-0E75-4925-9200-A62D779B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8201025"/>
            <a:ext cx="670084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356D8-E5D1-4C5A-A927-3BF6FC1C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81438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$9.0M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7F78C3-4615-4012-8B58-3C30E0F5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8858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Northeast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466661-52EB-4F74-8A13-B852A7F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8915400"/>
            <a:ext cx="588669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8CE4A4-6FA8-4A02-B5A9-E422AC20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88582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$7.9M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D5A426-3575-475C-AF05-4EE7CC7F4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957262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Texas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434474-9CA0-40AD-BFA4-0D9848F9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9629775"/>
            <a:ext cx="587862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CFA077-5C58-45F2-910E-42BC59E1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957262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$7.9M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46599E-5F57-48D4-A8AD-9D314307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02870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Pacific Northwest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2966EC-383E-457D-B54D-B533E6CC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0344150"/>
            <a:ext cx="5576167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AB8079-76D3-4B62-8BE6-BB51E44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028700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$7.4M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6423C7-D83D-4C50-9F16-DEF6F0C1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1001375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Midwest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BFBD21-5862-4B3C-8E51-3F4E960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1058525"/>
            <a:ext cx="5481818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8025D6-126A-4D45-A86C-DF17C4AE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1001375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$7.3M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F7DEA3-7861-4417-A194-7E204F25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117157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California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C0CABC-0212-406B-9BEF-91865251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11772900"/>
            <a:ext cx="5459026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6BE93"/>
          </a:solidFill>
          <a:ln xmlns:a="http://schemas.openxmlformats.org/drawingml/2006/main" w="0">
            <a:solidFill>
              <a:srgbClr val="D6BE9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B9A87-5A8B-4296-A11E-3687A63B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25250" y="11715750"/>
            <a:ext cx="171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$7.3M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A72E4C-EDA4-4B96-BE84-31A60CBC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8667750"/>
            <a:ext cx="13144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Example Data Studio output: region/channel performance, weather sensitivity, repeat-rate patterns, stockout risk, and cannibalization flags.</a:t>
            </a:r>
          </a:p>
        </p:txBody>
      </p:sp>
    </p:spTree>
    <p:extLst>
      <p:ext uri="{BB962C8B-B14F-4D97-AF65-F5344CB8AC3E}">
        <p14:creationId xmlns:p14="http://schemas.microsoft.com/office/powerpoint/2010/main" val="13309226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A54F5-8448-448E-9D8F-288D04AC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Finance Studio pressure-tests credibility.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3F080-8540-44A1-AC8B-82CA9A6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Dexter uses SBUX context, pilot assumptions, and public peer framing.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94D86-336C-4556-AD27-FAA26DCA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CBC6E-6930-456B-8095-810A15C1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ED367-42D3-4A74-B978-3ED02DD6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1432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$5.95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2F06D-1508-4EEB-89CC-C986705B8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400050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price per cup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A52A31-1F66-4798-906F-CBDD5876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81500" y="3143250"/>
            <a:ext cx="2286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$4.53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DDC36-215B-4C60-98CD-095776CC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57700" y="4000500"/>
            <a:ext cx="2952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contribution margin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E6790-FF90-472E-A695-8DB8F9299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0" y="3143250"/>
            <a:ext cx="304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209,713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AE7DD5-E8CC-42D0-BF5F-F9957766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5300" y="40005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break-even cups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A3802-FA72-4473-94B5-2C5ED2BF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53340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SBUX  /  BROS  /  DNUT  /  MCD  /  KO  /  PEP  /  MNST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8E4FEE-B2FD-4A33-9BB5-BB378134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60960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Competitor basket spans coffee chains, breakfast/QSR, RTD beverage, retail distribution, and premium beverage margin benchmarks.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D5477-89BE-4C8A-91EF-A1B952E7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0" y="2762250"/>
            <a:ext cx="3667125" cy="4762500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FCD1D-8159-463E-8DA5-606222B1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25450" y="3190875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Management must believe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160740-CA9F-4E9D-9D65-90D7E039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39528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58C7E7-EFC8-4B24-BAD4-88CBD7C9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3857625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Cold coffee demand supports premium citrus.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CDCF8-7627-40FD-8077-EA1F6383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46958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DFF3D7-C707-48E9-B29A-A21CC0880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4600575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Ops complexity remains below stockout threshold.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014715-4F68-41D6-BECA-56EDB4BA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54387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8EDF22-CCFA-4413-AFAE-8B5964A0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5343525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Cannibalization is controlled.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0FAAEF-788A-4616-BFCB-7B46BCBAC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6181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8A5EC5-F532-4B27-B12C-BD243D21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3600" y="6086475"/>
            <a:ext cx="2533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App discovery can scale trial.</a:t>
            </a:r>
          </a:p>
        </p:txBody>
      </p:sp>
    </p:spTree>
    <p:extLst>
      <p:ext uri="{BB962C8B-B14F-4D97-AF65-F5344CB8AC3E}">
        <p14:creationId xmlns:p14="http://schemas.microsoft.com/office/powerpoint/2010/main" val="17551395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B4224C-3CFA-438C-A639-8B2C1C9A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Writing Studio outputs the launch kit, not one blob of copy.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B897D-FDCC-4EE6-AF5F-88A666BA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The writing run creates multiple markdown deliverables from the same trusted context.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0DA55-ED49-4D46-9556-0692703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88132-D652-4105-96E3-23FD1571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31CB8D-6794-4BBB-A8B4-B5FDCA77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31432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50B090-2576-4262-954C-318457C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429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Executive launch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45886C-561E-441D-B781-9F942546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394335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Decision narrative for leadership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856FA-65B0-4794-AF52-AE7BB73F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31432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68D012-65D8-4D2A-9C08-216A0A6F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429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Retail pilot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A348C8-D41F-4BA7-BFFF-EA6CB53E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394335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Store ops and test design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114F63-542E-4DE4-8A3F-2903CDF3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87125" y="31432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BDFF8-A40E-495D-852D-3F470C70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34290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Landing page copy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7A16B-6647-45F1-99B9-F4306C4B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2875" y="394335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Customer-facing product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09B5C-0CC3-4494-834D-84FD8AE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" y="5238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39792-23FF-4EB9-B3D7-FF1FEF1A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55245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Launch email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454BBE-1084-42E3-B224-87C183369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03885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Rewards/app announcement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E25B86-1A56-4122-AA18-EE45DCB9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0" y="5238750"/>
            <a:ext cx="4095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9A204D-D344-4091-A1DA-FE42B9CA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55245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Product FAQ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764811-6FB0-4407-B658-60341982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6038850"/>
            <a:ext cx="3333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Barista and support readiness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8683E-C8BB-4CA1-BAF3-65E904AE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8362950"/>
            <a:ext cx="1219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Key demo move: show artifacts appearing as separate reusable files, then open any one of them for edit.</a:t>
            </a:r>
          </a:p>
        </p:txBody>
      </p:sp>
    </p:spTree>
    <p:extLst>
      <p:ext uri="{BB962C8B-B14F-4D97-AF65-F5344CB8AC3E}">
        <p14:creationId xmlns:p14="http://schemas.microsoft.com/office/powerpoint/2010/main" val="6677196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E5E74A-0AAA-4686-BF7A-DF122A77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Image Studio adds the final media layer.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A9A1-1659-4ECB-ADD6-5E1858E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The launch decision ends with assets that make the product feel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C11E01-73E7-45D8-9FAE-36798434A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F9C36-8EFC-4BBE-9007-268AFABD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4fded4b674216"/>
          <a:stretch xmlns:a="http://schemas.openxmlformats.org/drawingml/2006/main"/>
        </p:blipFill>
        <p:spPr>
          <a:xfrm xmlns:a="http://schemas.openxmlformats.org/drawingml/2006/main">
            <a:off x="1047750" y="2952750"/>
            <a:ext cx="4762500" cy="4000500"/>
          </a:xfrm>
          <a:prstGeom xmlns:a="http://schemas.openxmlformats.org/drawingml/2006/main" prst="roundRect">
            <a:avLst/>
          </a:prstGeom>
        </p:spPr>
      </p:pic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c3ed30a0d45d6"/>
          <a:stretch xmlns:a="http://schemas.openxmlformats.org/drawingml/2006/main"/>
        </p:blipFill>
        <p:spPr>
          <a:xfrm xmlns:a="http://schemas.openxmlformats.org/drawingml/2006/main">
            <a:off x="6743700" y="2952750"/>
            <a:ext cx="4762500" cy="4000500"/>
          </a:xfrm>
          <a:prstGeom xmlns:a="http://schemas.openxmlformats.org/drawingml/2006/main" prst="round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c8b1d753eb46e4"/>
          <a:stretch xmlns:a="http://schemas.openxmlformats.org/drawingml/2006/main"/>
        </p:blipFill>
        <p:spPr>
          <a:xfrm xmlns:a="http://schemas.openxmlformats.org/drawingml/2006/main">
            <a:off x="12439650" y="2952750"/>
            <a:ext cx="4762500" cy="4000500"/>
          </a:xfrm>
          <a:prstGeom xmlns:a="http://schemas.openxmlformats.org/drawingml/2006/main" prst="round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0AF75-E26B-404A-BCF1-1D44A7C2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" y="7905750"/>
            <a:ext cx="13335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Show the cherry on top: a pack shot, menu-board treatment, and social ad generated from the same launch context.</a:t>
            </a:r>
          </a:p>
        </p:txBody>
      </p:sp>
    </p:spTree>
    <p:extLst>
      <p:ext uri="{BB962C8B-B14F-4D97-AF65-F5344CB8AC3E}">
        <p14:creationId xmlns:p14="http://schemas.microsoft.com/office/powerpoint/2010/main" val="8627596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857936-3240-4D87-81F9-CDDFDD31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Compare becomes a feature, not a separate place.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5ECDE-1FBC-4544-A2B1-7B3FB47C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At any point in Chat, Research, or Writing, the same prompt can run through multiple LLMs.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9E706-E909-48A9-A3D0-0FFD1661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7AE7F2-85EC-4876-B980-E21B4F0D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5CF7C-E8D2-4595-99DA-4FE51499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" y="3048000"/>
            <a:ext cx="6096000" cy="419100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FBDD4A-204F-44D3-80B1-6B6E571B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34290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CEC29-5D7C-4F4B-9249-016C41E0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4143375"/>
            <a:ext cx="476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“Should we greenlight Cinder Orange Cold Brew?”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E44C9-CA77-4F2D-B86D-BCD2F8F6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6096000"/>
            <a:ext cx="409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One click: Compare responses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F1A76-216C-4506-8B8B-8D9FF5CE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31470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6DE3A-A70D-49A2-869E-64D9A3FD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3667125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GPT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FB2EB-EFA3-4FC7-943E-22149F29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34450" y="44767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Best answer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C78A1-52B1-4C5C-904D-A9C36E239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0" y="331470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92F453-D78F-47AE-AF99-4E2EAD3C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49050" y="3667125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Claude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AF4B6-86E8-4BC3-861A-6790675C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10950" y="44767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Risk-heavy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667207-CBA3-45D1-99A8-D9E9C5A0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620750" y="3314700"/>
            <a:ext cx="2000250" cy="2857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19050">
            <a:solidFill>
              <a:srgbClr val="DCCDA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D78AB4-9C81-43F5-A8AB-E703470A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25550" y="3667125"/>
            <a:ext cx="1390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Gemini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48013D-92FF-4B80-98C0-9E40369B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87450" y="4476750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Creative-heavy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1DA2C5-3A4D-45FF-972E-09493CD1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7048500"/>
            <a:ext cx="685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Demo value: investors see model optionality embedded exactly where work happens.</a:t>
            </a:r>
          </a:p>
        </p:txBody>
      </p:sp>
    </p:spTree>
    <p:extLst>
      <p:ext uri="{BB962C8B-B14F-4D97-AF65-F5344CB8AC3E}">
        <p14:creationId xmlns:p14="http://schemas.microsoft.com/office/powerpoint/2010/main" val="186855397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3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3147F-2924-44DC-8548-321F93B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output is a decision package.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CFBAA-42F4-46DF-99F9-00060EDD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B7E0C4"/>
                </a:solidFill>
                <a:latin typeface="Aptos"/>
                <a:ea typeface="Aptos"/>
                <a:cs typeface="Aptos"/>
              </a:defRPr>
            </a:pPr>
            <a:r>
              <a:t>The end state is concrete: an artifact set leadership can review, modify, and 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6D685-62D5-471F-904A-494A4287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52DBE-8EEE-40C1-BA89-B6EC9978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5C5FCC-C672-4306-A221-11644125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" y="3143250"/>
            <a:ext cx="6858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Greenlight pilot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A47FA-B067-4DA0-A09B-C5E1E966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62050" y="409575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Proceed with an 8-week, 400-store pilot if ops readiness and cannibalization gates are met.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57A9D-8E53-4E17-A7F9-F5FBD81C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57150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2CD4F-1FDE-47FD-BF40-3236F370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5619750"/>
            <a:ext cx="748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Research proposal explains the why.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48F4B-CEA4-4548-8736-3C30174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645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B6FBF2-E855-4B02-92F6-EC358F2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6362700"/>
            <a:ext cx="748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Data Studio proves historic patterns.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720F6-3130-4DEB-A0EA-81843523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7200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B0ACC-1727-491C-A0DC-FF8E7A8C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7105650"/>
            <a:ext cx="748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Finance Studio defines what must be true.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095B8-5F2A-4FF1-9A60-5927B28E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794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6138EE-C659-4815-A254-0768F68A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7848600"/>
            <a:ext cx="748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Writing Studio creates the launch docs.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DD7A5-EF48-4E0E-9A9F-0B2A43810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" y="8686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009318-DCAE-4111-AC4F-C5603031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8591550"/>
            <a:ext cx="7486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Image Studio provides the media surface.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6B11C5-5380-4281-A9B0-629F1F4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68000" y="2857500"/>
            <a:ext cx="4953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6EFE2"/>
          </a:solidFill>
          <a:ln xmlns:a="http://schemas.openxmlformats.org/drawingml/2006/main" w="0">
            <a:solidFill>
              <a:srgbClr val="F6EF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2D7EAE-E15F-4799-81A4-E9DD5AAE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2956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Artifact index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78CEEA-C55C-4D90-890B-FF5F0F09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4000500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Notion docs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CSV datasets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Finance prompts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Research proposal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Writing outputs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Image assets</a:t>
            </a:r>
          </a:p>
          <a:p xmlns:a="http://schemas.openxmlformats.org/drawingml/2006/main">
            <a:pPr algn="l">
              <a:defRPr sz="2100" b="0" i="0">
                <a:solidFill>
                  <a:srgbClr val="13251F"/>
                </a:solidFill>
                <a:latin typeface="Aptos"/>
                <a:ea typeface="Aptos"/>
                <a:cs typeface="Aptos"/>
              </a:defRPr>
            </a:pPr>
            <a:r>
              <a:t>Compare prompt</a:t>
            </a:r>
          </a:p>
        </p:txBody>
      </p:sp>
    </p:spTree>
    <p:extLst>
      <p:ext uri="{BB962C8B-B14F-4D97-AF65-F5344CB8AC3E}">
        <p14:creationId xmlns:p14="http://schemas.microsoft.com/office/powerpoint/2010/main" val="2052668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EFE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B1FEE6-8D0D-49D1-99E0-E1AACDE0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685800"/>
            <a:ext cx="1200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Two-week product plan centers on this demo.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CAD9A5-A1C3-4B85-81FD-6C85B6C3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1790700"/>
            <a:ext cx="11239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Every new feature should make the launch room feel more magical and more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89147-8D9C-41EC-916D-6DF65A6C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" y="9667875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B756F"/>
                </a:solidFill>
                <a:latin typeface="Aptos"/>
                <a:ea typeface="Aptos"/>
                <a:cs typeface="Aptos"/>
              </a:defRPr>
            </a:pPr>
            <a:r>
              <a:t>Beyond Chat demo package | Starbucks Cinder Orange Cold Brew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A7F97-4322-41DF-BF62-6F2F1DCA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9601200"/>
            <a:ext cx="66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E36E2F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46BBF-DB97-40ED-9058-86461550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3143250"/>
            <a:ext cx="1381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D8A036-A2EB-43CE-84EC-1205F946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34861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Week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0D4C1E-7AC9-4493-88EE-B1F1390C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33909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Notion import, context builder polish, artifact routing, calendar availability, demo data seeding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758AA5-7CAD-487F-A1BB-6FF32D4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4857750"/>
            <a:ext cx="1381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3D2E"/>
          </a:solidFill>
          <a:ln xmlns:a="http://schemas.openxmlformats.org/drawingml/2006/main" w="0">
            <a:solidFill>
              <a:srgbClr val="0B3D2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7D69E0-C8B5-4BF9-AD39-B83AE08E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52006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2AC08-F9EF-4513-BA33-C432984D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51054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Compare embedded in chat/writing/research, stronger Data Agent, finance competitor context, image handoff, live demo hardening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323E3-7B45-4511-8D56-3182CA9B6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6572250"/>
            <a:ext cx="13811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36E2F"/>
          </a:solidFill>
          <a:ln xmlns:a="http://schemas.openxmlformats.org/drawingml/2006/main" w="0">
            <a:solidFill>
              <a:srgbClr val="E36E2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0ADCAB-7DC8-4F53-9298-060FE799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95450" y="69151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Investor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3FF2C-C78A-4125-A93A-260EEAFA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0" y="6819900"/>
            <a:ext cx="914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F6EFE2"/>
                </a:solidFill>
                <a:latin typeface="Aptos"/>
                <a:ea typeface="Aptos"/>
                <a:cs typeface="Aptos"/>
              </a:defRPr>
            </a:pPr>
            <a:r>
              <a:t>One end-to-end use case that looks simple but demonstrates the entire platform architecture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E6306-D1D6-41C9-9D9A-77CA616B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8620125"/>
            <a:ext cx="666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B3D2E"/>
                </a:solidFill>
                <a:latin typeface="Aptos"/>
                <a:ea typeface="Aptos"/>
                <a:cs typeface="Aptos"/>
              </a:defRPr>
            </a:pPr>
            <a:r>
              <a:t>The demo is the roadmap.</a:t>
            </a:r>
          </a:p>
        </p:txBody>
      </p:sp>
    </p:spTree>
    <p:extLst>
      <p:ext uri="{BB962C8B-B14F-4D97-AF65-F5344CB8AC3E}">
        <p14:creationId xmlns:p14="http://schemas.microsoft.com/office/powerpoint/2010/main" val="914049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2026-04-30T22:05:51.7430000Z</dcterms:created>
  <dcterms:modified xsi:type="dcterms:W3CDTF">2026-04-30T22:05:51.7430000Z</dcterms:modified>
</coreProperties>
</file>